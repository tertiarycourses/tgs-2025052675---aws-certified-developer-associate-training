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ertiarycourses/TGS-2025052675---AWS-Certified-Developer-Associate-Training/tree/main/labs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SLIDES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AWS Certified Developer Associate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4000" b="1">
                <a:solidFill>
                  <a:srgbClr val="111827"/>
                </a:solidFill>
                <a:latin typeface="Arial"/>
              </a:rPr>
              <a:t>AWS Certified Developer Associate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1560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700" b="0">
                <a:solidFill>
                  <a:srgbClr val="4B5563"/>
                </a:solidFill>
                <a:latin typeface="Arial"/>
              </a:rPr>
              <a:t>TGS-2025052675 | Tertiary Infotech Academy Pte Ltd | UEN 201200696W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72000"/>
            <a:ext cx="105156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Trainer: Dr. Alfred Ang | Version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Digital Attendance (TRAQOM - SSG)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Scan the TRAQOM QR code on the LMS at required checkpoints.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Use the identity registered for this course.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Attendance is mandatory and recorded digitally.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YOUR TRAINER - GENERAL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About the Trainer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828800"/>
            <a:ext cx="3337560" cy="4206240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828800"/>
            <a:ext cx="3337560" cy="10058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73352" y="2395728"/>
            <a:ext cx="1554480" cy="155448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400" b="1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297680"/>
            <a:ext cx="3063240" cy="34747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100" b="1">
                <a:solidFill>
                  <a:srgbClr val="111827"/>
                </a:solidFill>
                <a:latin typeface="Arial"/>
              </a:rPr>
              <a:t>Your Trainer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919472"/>
            <a:ext cx="3063240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50" b="1">
                <a:solidFill>
                  <a:srgbClr val="4B5563"/>
                </a:solidFill>
                <a:latin typeface="Arial"/>
              </a:rPr>
              <a:t>General Trainer template -
to be completed by the trainer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1828800"/>
            <a:ext cx="6812280" cy="566928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17720" y="1828800"/>
            <a:ext cx="73152" cy="566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1965960"/>
            <a:ext cx="25603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</a:rPr>
              <a:t>NAME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92040" y="2240280"/>
            <a:ext cx="4069080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17720" y="2560320"/>
            <a:ext cx="6812280" cy="566928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17720" y="2560320"/>
            <a:ext cx="73152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2697479"/>
            <a:ext cx="25603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10B981"/>
                </a:solidFill>
                <a:latin typeface="Arial"/>
              </a:rPr>
              <a:t>TITLE / DESIGNATION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92040" y="2971800"/>
            <a:ext cx="4069080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17720" y="3291840"/>
            <a:ext cx="6812280" cy="566928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17720" y="3291840"/>
            <a:ext cx="73152" cy="5669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92040" y="3429000"/>
            <a:ext cx="25603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7C3AED"/>
                </a:solidFill>
                <a:latin typeface="Arial"/>
              </a:rPr>
              <a:t>QUALIFICATIONS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92040" y="3703320"/>
            <a:ext cx="4069080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17720" y="4023360"/>
            <a:ext cx="6812280" cy="566928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17720" y="4023360"/>
            <a:ext cx="73152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4160520"/>
            <a:ext cx="25603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F59E0B"/>
                </a:solidFill>
                <a:latin typeface="Arial"/>
              </a:rPr>
              <a:t>AREAS OF EXPERTISE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92040" y="4434840"/>
            <a:ext cx="4069080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17720" y="4754880"/>
            <a:ext cx="6812280" cy="566928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17720" y="4754880"/>
            <a:ext cx="73152" cy="566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92040" y="4892040"/>
            <a:ext cx="25603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92040" y="5166360"/>
            <a:ext cx="4069080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17720" y="5486400"/>
            <a:ext cx="6812280" cy="566928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617720" y="5486400"/>
            <a:ext cx="73152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92040" y="5623560"/>
            <a:ext cx="25603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10B981"/>
                </a:solidFill>
                <a:latin typeface="Arial"/>
              </a:rPr>
              <a:t>CONTACT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92040" y="5897880"/>
            <a:ext cx="4069080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About the Trainer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828800"/>
            <a:ext cx="3337560" cy="4206240"/>
          </a:xfrm>
          <a:prstGeom prst="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828800"/>
            <a:ext cx="3337560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91640" y="2331720"/>
            <a:ext cx="1600200" cy="1600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FFFFFF"/>
                </a:solidFill>
              </a:rPr>
              <a:t>AA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389120"/>
            <a:ext cx="3063240" cy="34747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000" b="1">
                <a:solidFill>
                  <a:srgbClr val="111827"/>
                </a:solidFill>
                <a:latin typeface="Arial"/>
              </a:rPr>
              <a:t>Dr. Alfred Ang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4919472"/>
            <a:ext cx="3063240" cy="56692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50" b="1">
                <a:solidFill>
                  <a:srgbClr val="4B5563"/>
                </a:solidFill>
                <a:latin typeface="Arial"/>
              </a:rPr>
              <a:t>Principal Trainer
Tertiary Infotech Academy Pte. Ltd.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1828800"/>
            <a:ext cx="6812280" cy="868680"/>
          </a:xfrm>
          <a:prstGeom prst="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17720" y="1828800"/>
            <a:ext cx="73152" cy="868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1993392"/>
            <a:ext cx="617220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ROLE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2267712"/>
            <a:ext cx="6172200" cy="25603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Principal Trainer, Tertiary Infotech Academy Pte. Ltd.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17720" y="2907791"/>
            <a:ext cx="6812280" cy="868680"/>
          </a:xfrm>
          <a:prstGeom prst="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17720" y="2907791"/>
            <a:ext cx="73152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3072384"/>
            <a:ext cx="617220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QUALIFICATIONS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3346703"/>
            <a:ext cx="6172200" cy="25603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PhD - specialises in AI, automation, software engineering and cloud learning.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17720" y="3986783"/>
            <a:ext cx="6812280" cy="868680"/>
          </a:xfrm>
          <a:prstGeom prst="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17720" y="3986783"/>
            <a:ext cx="73152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92040" y="4151375"/>
            <a:ext cx="617220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DELIVERS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4425696"/>
            <a:ext cx="6172200" cy="25603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WSQ courses on cloud fundamentals, AI, automation and app development.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17720" y="5065776"/>
            <a:ext cx="6812280" cy="868680"/>
          </a:xfrm>
          <a:prstGeom prst="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17720" y="5065776"/>
            <a:ext cx="73152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5230368"/>
            <a:ext cx="617220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FOUNDER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5504688"/>
            <a:ext cx="6172200" cy="25603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Learner Introduction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Name and role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AWS development experience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One application you want to build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809744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3272" y="5029200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4974336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Your goal for this course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Ground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5303520" cy="1143000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91640"/>
            <a:ext cx="73152" cy="1143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78408" y="2020824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075688"/>
            <a:ext cx="3977639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50" b="0">
                <a:solidFill>
                  <a:srgbClr val="111827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691640"/>
            <a:ext cx="5303520" cy="1143000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691640"/>
            <a:ext cx="73152" cy="1143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47688" y="2020824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2075688"/>
            <a:ext cx="3977639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50" b="0">
                <a:solidFill>
                  <a:srgbClr val="111827"/>
                </a:solidFill>
                <a:latin typeface="Arial"/>
              </a:rPr>
              <a:t>Participate actively - no question is too small.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291840"/>
            <a:ext cx="5303520" cy="1143000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291840"/>
            <a:ext cx="73152" cy="1143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78408" y="36210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675888"/>
            <a:ext cx="3977639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50" b="0">
                <a:solidFill>
                  <a:srgbClr val="111827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3291840"/>
            <a:ext cx="5303520" cy="1143000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3291840"/>
            <a:ext cx="73152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647688" y="36210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3675888"/>
            <a:ext cx="3977639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50" b="0">
                <a:solidFill>
                  <a:srgbClr val="111827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892040"/>
            <a:ext cx="5303520" cy="1143000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892040"/>
            <a:ext cx="73152" cy="11430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78408" y="5221224"/>
            <a:ext cx="530352" cy="530352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5276088"/>
            <a:ext cx="3977639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50" b="0">
                <a:solidFill>
                  <a:srgbClr val="111827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4892040"/>
            <a:ext cx="5303520" cy="1143000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55080" y="4892040"/>
            <a:ext cx="73152" cy="1143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47688" y="5221224"/>
            <a:ext cx="530352" cy="530352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5276088"/>
            <a:ext cx="3977639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50" b="0">
                <a:solidFill>
                  <a:srgbClr val="111827"/>
                </a:solidFill>
                <a:latin typeface="Arial"/>
              </a:rPr>
              <a:t>75% attendance is required.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LESSON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Course Outline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2514600" cy="1645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Labs 1-2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Secure setup and serverless APIs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0" y="1828800"/>
            <a:ext cx="2514600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620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Arial"/>
              </a:rPr>
              <a:t>Day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Labs 3-4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Data and event integration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1828800"/>
            <a:ext cx="2514600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Arial"/>
              </a:rPr>
              <a:t>Day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Labs 5-6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CI/CD and deployment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26880" y="1828800"/>
            <a:ext cx="2514600" cy="1645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5548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Arial"/>
              </a:rPr>
              <a:t>Day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Labs 7-8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Security, operations and 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Learning Outcomes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2514600" cy="1645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Secure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IAM + credentials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Use least privilege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0" y="1828800"/>
            <a:ext cx="2514600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620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Arial"/>
              </a:rPr>
              <a:t>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Serverless +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Create application patterns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1828800"/>
            <a:ext cx="2514600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Arial"/>
              </a:rPr>
              <a:t>Deliver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CI/CD + IaC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Automate deployments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26880" y="1828800"/>
            <a:ext cx="2514600" cy="1645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5548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Arial"/>
              </a:rPr>
              <a:t>Operate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Observe + optimize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Troubleshoot applications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Briefing for Assessment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Open-book assessment on Day 2 from 4:00 PM to 6:00 PM.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Written Assessment: 1 hour.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Practical Performance: 1 hour.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809744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3272" y="5029200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4974336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Follow trainer and LMS submission instructions.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Assessment and Funding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Complete both WA and PP components.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Meet attendance and assessment requirements.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Submit answers on the LMS.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809744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3272" y="5029200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4974336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Sign the Assessment Summary Record.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Assessment Flow Reminder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50392" y="2359152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TRAQOM digital
attendance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971800"/>
            <a:ext cx="25603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4B5563"/>
                </a:solidFill>
                <a:latin typeface="Arial"/>
              </a:rPr>
              <a:t>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999232" y="2359152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Assessment digital
attendance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971800"/>
            <a:ext cx="25603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4B5563"/>
                </a:solidFill>
                <a:latin typeface="Arial"/>
              </a:rP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148072" y="2359152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Sit WA then
case study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971800"/>
            <a:ext cx="25603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4B5563"/>
                </a:solidFill>
                <a:latin typeface="Arial"/>
              </a:rP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296912" y="2359152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Submit answers on
the LMS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2971800"/>
            <a:ext cx="25603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4B5563"/>
                </a:solidFill>
                <a:latin typeface="Arial"/>
              </a:rP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8116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45752" y="2359152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Sign Assessment
Summary Record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5074920"/>
            <a:ext cx="7863840" cy="34747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0">
                <a:solidFill>
                  <a:srgbClr val="4B5563"/>
                </a:solidFill>
                <a:latin typeface="Arial"/>
              </a:rPr>
              <a:t>The TRAQOM QR code and LMS submission are both handled through the LMS/TMS portal.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Access the Hands-On Labs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Option A: git clone https://github.com/tertiarycourses/TGS-2025052675---AWS-Certified-Developer-Associate-Training.git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Option B: GitHub Code -&gt; Download ZIP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  <a:hlinkClick r:id="rId2"/>
              </a:rPr>
              <a:t>https://github.com/tertiarycourses/TGS-2025052675---AWS-Certified-Developer-Associate-Training/tree/main/labs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809744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3272" y="5029200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4974336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Use the AWS account and permissions assigned by your trainer.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AWS Developer Learning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74519"/>
            <a:ext cx="2148840" cy="182880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See Learner Guide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62656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11880" y="1874519"/>
            <a:ext cx="2148840" cy="1828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Follow lab steps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61304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10528" y="1874519"/>
            <a:ext cx="2148840" cy="182880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Capture deliverables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59952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409176" y="1874519"/>
            <a:ext cx="2148840" cy="18288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Confirm checkpoint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754880"/>
            <a:ext cx="9966960" cy="676656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907024"/>
            <a:ext cx="1051560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  <a:latin typeface="Arial"/>
              </a:rPr>
              <a:t>All artifacts follow the same authoritative lab sequence.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Services Practised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74519"/>
            <a:ext cx="2148840" cy="182880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See Learner Guide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62656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11880" y="1874519"/>
            <a:ext cx="2148840" cy="1828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Follow lab steps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61304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10528" y="1874519"/>
            <a:ext cx="2148840" cy="182880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Capture deliverables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59952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409176" y="1874519"/>
            <a:ext cx="2148840" cy="18288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Confirm checkpoint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754880"/>
            <a:ext cx="9966960" cy="676656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907024"/>
            <a:ext cx="1051560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  <a:latin typeface="Arial"/>
              </a:rPr>
              <a:t>All artifacts follow the same authoritative lab sequence.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Secure Delivery Lifecycle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74519"/>
            <a:ext cx="2148840" cy="182880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See Learner Guide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62656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11880" y="1874519"/>
            <a:ext cx="2148840" cy="1828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Follow lab steps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61304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10528" y="1874519"/>
            <a:ext cx="2148840" cy="182880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Capture deliverables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59952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409176" y="1874519"/>
            <a:ext cx="2148840" cy="18288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Confirm checkpoint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754880"/>
            <a:ext cx="9966960" cy="676656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907024"/>
            <a:ext cx="1051560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  <a:latin typeface="Arial"/>
              </a:rPr>
              <a:t>All artifacts follow the same authoritative lab sequence.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Troubleshooting and Optimization Loop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74519"/>
            <a:ext cx="2148840" cy="182880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See Learner Guide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62656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11880" y="1874519"/>
            <a:ext cx="2148840" cy="1828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Follow lab steps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61304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10528" y="1874519"/>
            <a:ext cx="2148840" cy="182880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Capture deliverables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59952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409176" y="1874519"/>
            <a:ext cx="2148840" cy="18288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Confirm checkpoint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754880"/>
            <a:ext cx="9966960" cy="676656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907024"/>
            <a:ext cx="1051560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  <a:latin typeface="Arial"/>
              </a:rPr>
              <a:t>All artifacts follow the same authoritative lab sequence.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1 - Account Safety, IAM, AWS CLI, SDKs, and Developer Setup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1 - Development with AWS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labs/lab-01-account-iam-cli-sdk-developer-setup.md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Objectives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Scenario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Deliverables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1 -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Configure a safe AWS developer baseline.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Review IAM users, roles, policies, and least privilege.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Use AWS CloudShell or AWS CLI.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809744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3272" y="5029200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4974336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Understand SDK configuration and credential safety.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STEP-BY-STEP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1 - Steps 1-5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Sign in to the AWS account assigned by your trainer.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Confirm you are in the correct region.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Open IAM.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Verify MFA is enabled where permitted.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Review users, groups, roles, and policies.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STEP-BY-STEP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1 - Steps 6-10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Open an AWS managed policy and identify actions, resources, and effects.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Create or review a developer role only if your trainer permits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Open AWS CloudShell.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Run `aws sts get-caller-identity`.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Run `aws configure list`.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STEP-BY-STEP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1 - Steps 11-15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Review the difference between access keys, temporary credentials, roles, and instance profiles.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Open AWS SDK documentation for one language such as Python, JavaScript, Java, or .NET.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Record how the SDK credential provider chain works at a high level.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Create a short least-privilege checklist for application development.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Save your notes.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1 -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IAM concept 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CloudShell command output 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77056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Credential safety checklist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43983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SDK configuration notes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Keep rg-az900-labs only when the next lab needs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16 performs the final course cleanup.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2 - Lambda, API Gateway, and Serverless APIs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1 - Development with AWS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labs/lab-02-lambda-api-gateway-serverless-api.md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Objectives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Scenario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Deliverables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2 -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Understand Lambda function configuration.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Create or review a Lambda test event.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Connect Lambda to API Gateway conceptually or hands-on if permitted.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809744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3272" y="5029200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4974336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Review permissions, logs, timeout, memory, and versions.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STEP-BY-STEP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2 - Steps 1-5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Open AWS Lambda.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Create a function only if your trainer permits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Choose an approved runtime such as Python or Node.js.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Review handler, runtime, timeout, memory, environment variables, and execution role.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Create a test event.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STEP-BY-STEP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2 - Steps 6-10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Run the test event and review the response.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Open CloudWatch Logs for the function.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Add or review a simple log statement.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Review function versions and aliases.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Review concurrency and throttling concepts.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STEP-BY-STEP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2 - Steps 11-15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Open API Gateway.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Review REST API, HTTP API, routes, stages, integrations, and authorizers.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Create a simple route to Lambda only if permitted.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Test the route or document the request/response flow.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Review Lambda resource-based permissions for API Gateway invocation.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STEP-BY-STEP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2 - Steps 16-17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Delete any test API and function if instructed.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Save your notes.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2 -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Lambda configuration 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Test event 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77056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API Gateway request flow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43983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CloudWatch log notes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Keep rg-az900-labs only when the next lab needs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16 performs the final course cleanup.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3 - DynamoDB, S3, and Application Data Patterns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1 - Development with AWS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labs/lab-03-dynamodb-s3-application-data.md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Objectives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Scenario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Deliverables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3 -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Model application data using DynamoDB access patterns.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Review keys, indexes, capacity, TTL, and streams.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Understand S3 object access and presigned URLs.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809744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3272" y="5029200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4974336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Compare data storage choices for applications.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STEP-BY-STEP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3 - Steps 1-5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Open DynamoDB.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Review table, partition key, sort key, item, and attribute concepts.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Create a table only if your trainer permits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Choose a sample access pattern such as `Get order by order_id`.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Add a sample item if permitted.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STEP-BY-STEP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3 - Steps 6-10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Review global secondary index and local secondary index concepts.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Review capacity modes and throttling behavior.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Review TTL and DynamoDB Streams use cases.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Open S3.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Review bucket, object, prefix, metadata, and versioning concepts.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STEP-BY-STEP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3 - Steps 11-15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Create a bucket only if permitted.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Keep Block Public Access enabled.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Upload a small sample file if permitted.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Review presigned URL use cases.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Create a table comparing DynamoDB, S3, RDS, and ElastiCache for application data.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STEP-BY-STEP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3 - Steps 16-17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Delete temporary resources if instructed.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Save your notes.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3 -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DynamoDB access pattern 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Key and index design 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77056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S3 object access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43983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Application data service comparison table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Keep rg-az900-labs only when the next lab needs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16 performs the final course cleanup.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4 - SQS, SNS, EventBridge, and Step Functions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2 - Security and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labs/lab-04-sqs-sns-eventbridge-step-functions.md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Objectives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Scenario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Deliverables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4 -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Compare asynchronous messaging and event services.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Understand queues, topics, event buses, and workflows.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Design retry and dead-letter queue behavior.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809744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3272" y="5029200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4974336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Map event-driven services to application scenarios.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STEP-BY-STEP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4 - Steps 1-5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Open Amazon SQS.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Review standard and FIFO queue concepts.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Review visibility timeout, message retention, long polling, and dead-letter queues.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Open Amazon SNS.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Review topics, subscriptions, fanout, and filtering.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STEP-BY-STEP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4 - Steps 6-10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Open Amazon EventBridge.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Review event buses, rules, schedules, and targets.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Open AWS Step Functions.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Review state machines, tasks, choices, retries, catches, and executions.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Create a comparison table for SQS, SNS, EventBridge, and Step Functions.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STEP-BY-STEP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4 - Steps 11-15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Design a workflow where an API request queues work for a background processor.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Add retry and DLQ handling.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Design a fanout notification pattern.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Design a scheduled event pattern.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Save your notes.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4 -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Event service comparison 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Queue-based processing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77056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Fanout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43983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Retry and DLQ notes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Keep rg-az900-labs only when the next lab needs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16 performs the final course cleanup.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5 - Developer Tools and CI/CD Pipelines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2 - Security and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labs/lab-05-codecommit-codebuild-codedeploy-codepipeline.md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Objectives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Scenario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Deliverables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5 -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Understand AWS developer tools for CI/CD.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Review source, build, test, deploy, and release stages.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Compare CodeCommit, CodeBuild, CodeDeploy, and CodePipeline.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809744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3272" y="5029200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4974336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Design a simple application delivery pipeline.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STEP-BY-STEP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5 - Steps 1-5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Open CodePipeline.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Review pipeline stages and actions.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Open CodeBuild.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Review build projects, buildspec files, environment images, artifacts, and logs.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Open CodeDeploy.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STEP-BY-STEP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5 - Steps 6-10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Review deployment groups, deployment configurations, lifecycle hooks, and rollback concepts.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Open CodeCommit if available or use a trainer-approved external Git provider.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Create a comparison table for source, build, deploy, and pipeline services.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Design a pipeline with source, build, test, package, deploy, and approval stages.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Identify where artifacts are stored.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STEP-BY-STEP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5 - Steps 11-14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Identify where environment variables and secrets should be handled.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Compare blue/green, rolling, canary, and all-at-once deployment concepts.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Review failure and rollback paths.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809744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3272" y="5029200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4974336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Save your pipeline design.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5 -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CI/CD service comparison 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Pipeline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77056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Deployment strategy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43983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Rollback and artifact notes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Keep rg-az900-labs only when the next lab needs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16 performs the final course cleanup.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6 - Deployment with SAM, CloudFormation, Elastic Beanstalk, and Containers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2 - Security and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labs/lab-06-deployment-sam-cloudformation-containers.md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Objectives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Scenario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Deliverables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6 -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Compare AWS deployment and infrastructure-as-code options.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Understand CloudFormation templates and stacks.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Review AWS SAM for serverless deployment.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809744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3272" y="5029200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4974336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Compare Elastic Beanstalk and container deployment patterns.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STEP-BY-STEP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6 - Steps 1-5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Open CloudFormation.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Review stacks, templates, parameters, outputs, change sets, and drift detection.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Open AWS SAM documentation or service pages.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Review the purpose of `template.yaml`, functions, APIs, and permissions.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Review SAM build, package, deploy, and local testing concepts.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STEP-BY-STEP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6 - Steps 6-10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Open Elastic Beanstalk.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Review environments, application versions, platforms, and deployment policies.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Open Amazon ECR.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Review container image repository concepts.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Open ECS.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STEP-BY-STEP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6 - Steps 11-15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Review clusters, task definitions, services, and tasks.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Create a comparison table for CloudFormation, SAM, Elastic Beanstalk, ECS, and Lambda console deployment.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Design a deployment path for a small serverless API.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Design a deployment path for a containerized web application.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Save your notes.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6 -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Deployment service comparison 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Serverless deployment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77056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Container deployment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43983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CloudFormation and SAM notes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Keep rg-az900-labs only when the next lab needs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16 performs the final course cleanup.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7 - Application Security, Secrets, Cognito, KMS, and Least Privilege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3 - Troubleshooting and Optimization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labs/lab-07-security-secrets-cognito-kms.md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Objectives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Scenario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Deliverables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7 -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Secure application secrets and configuration.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Review Cognito authentication and authorization patterns.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Understand KMS encryption for application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809744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3272" y="5029200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4974336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Apply least-privilege and resource-based permissions.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STEP-BY-STEP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7 - Steps 1-5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Open Secrets Manager.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Review secret storage, rotation, versions, and access policies.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Open Systems Manager Parameter Store.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Compare standard parameters, secure strings, and hierarchy naming.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Open Amazon Cognito.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STEP-BY-STEP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7 - Steps 6-10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Review user pools, identity pools, app clients, and hosted UI concepts.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Open KMS.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Review AWS managed keys, customer managed keys, key policies, and grants.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Review Lambda environment variable encryption.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Review IAM identity-based policies and resource-based policies.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STEP-BY-STEP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7 - Steps 11-14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Compare API Gateway IAM authorization, Lambda authorizers, and Cognito authorizers.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Create a secure application checklist.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Map where secrets, config, tokens, encryption keys, and permissions belong in an application.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809744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3272" y="5029200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4974336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Save your notes.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7 -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Secrets Manager vs Parameter Store comparison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Cognito concept 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77056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KMS encryption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43983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Secure application checklist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Keep rg-az900-labs only when the next lab needs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16 performs the final course cleanup.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8 - Monitoring, Troubleshooting, Optimization, and Exam 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3 - Troubleshooting and Optimization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labs/lab-08-monitoring-troubleshooting-optimization-exam-review.md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Objectives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Scenario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Deliverables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8 -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Review application observability tools.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Diagnose common Lambda, API Gateway, DynamoDB, and deployment issues.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Identify performance and cost optimization patterns.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809744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3272" y="5029200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4974336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Complete certification-style review practice.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STEP-BY-STEP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8 - Steps 1-5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Open CloudWatch.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Review metrics, logs, log groups, dashboards, and alarms.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Review Lambda logs and metrics such as errors, duration, throttles, and concurrent executions.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Review API Gateway metrics and access logs conceptually.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Open X-Ray.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STEP-BY-STEP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8 - Steps 6-10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Review traces, segments, service maps, and sampling concepts.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Open CloudTrail and review audit events.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Create a troubleshooting checklist for Lambda permission errors, timeout errors, throttling, API errors, and DynamoDB throttling.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Create an optimization checklist covering memory tuning, retries with backoff, caching, connection reuse, SDK pagination, and reserved concurrency.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Review DAX, ElastiCache, CloudFront, and API Gateway caching use cases.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STEP-BY-STEP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8 - Steps 11-15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Map each lab to exam domains.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Complete a timed 30-question practice set from trainer-provided questions or AWS practice resources.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Mark weak topics by domain.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Clean up temporary resources if instructed.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Save final notes.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8 -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Monitoring and troubleshooting checklist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Optimization checklist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77056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Exam-domain revision 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43983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Timed practice score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Keep rg-az900-labs only when the next lab needs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16 performs the final course cleanup.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What You Achieved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2514600" cy="1645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Develop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AWS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Built lab-aligned patterns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0" y="1828800"/>
            <a:ext cx="2514600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620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Arial"/>
              </a:rPr>
              <a:t>Secure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Least privilege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Protected credentials and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1828800"/>
            <a:ext cx="2514600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Arial"/>
              </a:rPr>
              <a:t>Deploy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Automation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Compared CI/CD and IaC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26880" y="1828800"/>
            <a:ext cx="2514600" cy="1645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5548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Arial"/>
              </a:rPr>
              <a:t>Operate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Observability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Diagnosed and optimized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PRACTICE EXAM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Take the Online AWS Developer Practice Exams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46634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1">
                <a:solidFill>
                  <a:srgbClr val="1F6FEB"/>
                </a:solidFill>
                <a:latin typeface="Arial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920240"/>
            <a:ext cx="4434840" cy="47548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50" b="0">
                <a:solidFill>
                  <a:srgbClr val="111827"/>
                </a:solidFill>
                <a:latin typeface="Arial"/>
              </a:rPr>
              <a:t>Reinforce AWS Developer Associate domains with realistic, exam-style questions before assessment 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24327"/>
            <a:ext cx="46634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1">
                <a:solidFill>
                  <a:srgbClr val="1F6FEB"/>
                </a:solidFill>
                <a:latin typeface="Arial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70048"/>
            <a:ext cx="4434840" cy="47548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50" b="0">
                <a:solidFill>
                  <a:srgbClr val="111827"/>
                </a:solidFill>
                <a:latin typeface="Arial"/>
              </a:rPr>
              <a:t>Test development, security, deployment, troubleshooting and optimization decisions.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74135"/>
            <a:ext cx="46634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1">
                <a:solidFill>
                  <a:srgbClr val="1F6FEB"/>
                </a:solidFill>
                <a:latin typeface="Arial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419856"/>
            <a:ext cx="4434840" cy="47548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50" b="0">
                <a:solidFill>
                  <a:srgbClr val="111827"/>
                </a:solidFill>
                <a:latin typeface="Arial"/>
              </a:rPr>
              <a:t>Review mode helps you check the correct answer and revisit the concept after each question.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23944"/>
            <a:ext cx="46634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1">
                <a:solidFill>
                  <a:srgbClr val="1F6FEB"/>
                </a:solidFill>
                <a:latin typeface="Arial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169664"/>
            <a:ext cx="4434840" cy="47548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50" b="0">
                <a:solidFill>
                  <a:srgbClr val="111827"/>
                </a:solidFill>
                <a:latin typeface="Arial"/>
              </a:rPr>
              <a:t>Complete the practice questions from Google Classroom, then bring difficult items to review.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212080"/>
            <a:ext cx="438912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50" b="1">
                <a:solidFill>
                  <a:srgbClr val="111827"/>
                </a:solidFill>
                <a:latin typeface="Arial"/>
              </a:rPr>
              <a:t>Access and practise at: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532120"/>
            <a:ext cx="4663440" cy="29260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https://exams.tertiaryinfotech.com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23560" y="1828800"/>
            <a:ext cx="5715000" cy="4279392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806440" y="1965960"/>
            <a:ext cx="228600" cy="2286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08192" y="1993392"/>
            <a:ext cx="1463040" cy="146304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650" b="1">
                <a:solidFill>
                  <a:srgbClr val="111827"/>
                </a:solidFill>
                <a:latin typeface="Arial"/>
              </a:rPr>
              <a:t>Tertiary Exams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1993392"/>
            <a:ext cx="868680" cy="146304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580" b="0">
                <a:solidFill>
                  <a:srgbClr val="111827"/>
                </a:solidFill>
                <a:latin typeface="Arial"/>
              </a:rPr>
              <a:t>Practice Exam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1993392"/>
            <a:ext cx="685800" cy="146304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580" b="0">
                <a:solidFill>
                  <a:srgbClr val="111827"/>
                </a:solidFill>
                <a:latin typeface="Arial"/>
              </a:rPr>
              <a:t>About 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61320" y="1920240"/>
            <a:ext cx="530352" cy="219456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25328" y="1975104"/>
            <a:ext cx="411480" cy="7315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480" b="1">
                <a:solidFill>
                  <a:srgbClr val="FFFFFF"/>
                </a:solidFill>
                <a:latin typeface="Arial"/>
              </a:rPr>
              <a:t>Get started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80" y="2542032"/>
            <a:ext cx="4389120" cy="25603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50" b="1">
                <a:solidFill>
                  <a:srgbClr val="111827"/>
                </a:solidFill>
                <a:latin typeface="Arial"/>
              </a:rPr>
              <a:t>AWS Certified Developer Associate Practice Exams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0" y="3154680"/>
            <a:ext cx="987552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53328" y="3273552"/>
            <a:ext cx="731520" cy="91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480" b="1">
                <a:solidFill>
                  <a:srgbClr val="4B5563"/>
                </a:solidFill>
                <a:latin typeface="Arial"/>
              </a:rPr>
              <a:t>MODE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53328" y="3474720"/>
            <a:ext cx="731520" cy="91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650" b="1">
                <a:solidFill>
                  <a:srgbClr val="111827"/>
                </a:solidFill>
                <a:latin typeface="Arial"/>
              </a:rPr>
              <a:t>Practice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3648456"/>
            <a:ext cx="804672" cy="3200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040880" y="3154680"/>
            <a:ext cx="987552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50608" y="3273552"/>
            <a:ext cx="731520" cy="91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480" b="1">
                <a:solidFill>
                  <a:srgbClr val="4B5563"/>
                </a:solidFill>
                <a:latin typeface="Arial"/>
              </a:rPr>
              <a:t>FOCUS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0608" y="3474720"/>
            <a:ext cx="731520" cy="91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650" b="1">
                <a:solidFill>
                  <a:srgbClr val="111827"/>
                </a:solidFill>
                <a:latin typeface="Arial"/>
              </a:rPr>
              <a:t>DVA-C02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0" y="3648456"/>
            <a:ext cx="804672" cy="3200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38160" y="3154680"/>
            <a:ext cx="987552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47888" y="3273552"/>
            <a:ext cx="731520" cy="91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480" b="1">
                <a:solidFill>
                  <a:srgbClr val="4B5563"/>
                </a:solidFill>
                <a:latin typeface="Arial"/>
              </a:rPr>
              <a:t>ACCESS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47888" y="3474720"/>
            <a:ext cx="731520" cy="91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650" b="1">
                <a:solidFill>
                  <a:srgbClr val="111827"/>
                </a:solidFill>
                <a:latin typeface="Arial"/>
              </a:rPr>
              <a:t>Class link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3648456"/>
            <a:ext cx="804672" cy="3200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921240" y="2834640"/>
            <a:ext cx="11430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0" y="2971800"/>
            <a:ext cx="868680" cy="1371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520" b="1">
                <a:solidFill>
                  <a:srgbClr val="4B5563"/>
                </a:solidFill>
                <a:latin typeface="Arial"/>
              </a:rPr>
              <a:t>PRACTICE DETAILS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3218688"/>
            <a:ext cx="82296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550" b="0">
                <a:solidFill>
                  <a:srgbClr val="111827"/>
                </a:solidFill>
                <a:latin typeface="Arial"/>
              </a:rPr>
              <a:t>Exam code  DVA-C02
Use        Review
Domains    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LMS / COURSE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Download Course Material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1. Open https://lms-tms.tertiaryinfotech.com/ and sign 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2. Select this AWS Certified Developer Associate course.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3. Open Course Material and download the slides and Learner Guide.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809744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3272" y="5029200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4974336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4. Return to the same course page for WA and PP assessment submission.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REMINDER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Assessment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Day 2, 4:00 PM-6:00 PM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WA: 1 hour | PP: 1 hour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Open book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809744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3272" y="5029200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4974336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Take assessment attendance and submit on LMS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Assessment Flow Reminder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50392" y="2359152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TRAQOM digital
attendance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971800"/>
            <a:ext cx="25603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4B5563"/>
                </a:solidFill>
                <a:latin typeface="Arial"/>
              </a:rPr>
              <a:t>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999232" y="2359152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Assessment digital
attendance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971800"/>
            <a:ext cx="25603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4B5563"/>
                </a:solidFill>
                <a:latin typeface="Arial"/>
              </a:rP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148072" y="2359152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Sit WA then
case study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971800"/>
            <a:ext cx="25603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4B5563"/>
                </a:solidFill>
                <a:latin typeface="Arial"/>
              </a:rP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296912" y="2359152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Submit answers on
the LMS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2971800"/>
            <a:ext cx="25603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4B5563"/>
                </a:solidFill>
                <a:latin typeface="Arial"/>
              </a:rP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8116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45752" y="2359152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Sign Assessment
Summary Record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5074920"/>
            <a:ext cx="7863840" cy="34747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0">
                <a:solidFill>
                  <a:srgbClr val="4B5563"/>
                </a:solidFill>
                <a:latin typeface="Arial"/>
              </a:rPr>
              <a:t>The TRAQOM QR code and LMS submission are both handled through the LMS/TMS portal.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MANDATORY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Complete TRAQOM - SSG digital attendance.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Use the LMS QR code provided by the trainer.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Confirm successful submission before leaving.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Thank You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enquiry@tertiaryinfotech.com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www.tertiarycourses.com.sg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AWS Certified Developer Associate Training | TGS-2025052675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